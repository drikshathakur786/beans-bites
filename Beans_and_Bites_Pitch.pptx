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84"/>
  </p:normalViewPr>
  <p:slideViewPr>
    <p:cSldViewPr snapToGrid="0" snapToObjects="1">
      <p:cViewPr varScale="1">
        <p:scale>
          <a:sx n="122" d="100"/>
          <a:sy n="122" d="100"/>
        </p:scale>
        <p:origin x="22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1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00232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A48E"/>
                </a:solidFill>
                <a:latin typeface="Calibri"/>
              </a:rPr>
              <a:t>1  / 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703923" cy="6858000"/>
          </a:xfrm>
          <a:prstGeom prst="rect">
            <a:avLst/>
          </a:prstGeom>
          <a:solidFill>
            <a:srgbClr val="1E1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1371600"/>
            <a:ext cx="50292" cy="3840480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325880"/>
            <a:ext cx="6035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BEANS &amp; BITES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460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D98A36"/>
                </a:solidFill>
                <a:latin typeface="Calibri Light"/>
              </a:rPr>
              <a:t>Your Personal Coffee Ritual, Perfected.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218688"/>
            <a:ext cx="5120640" cy="16459"/>
          </a:xfrm>
          <a:prstGeom prst="rect">
            <a:avLst/>
          </a:prstGeom>
          <a:solidFill>
            <a:srgbClr val="604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ppIcon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337560"/>
            <a:ext cx="502920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88720" y="33649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 Light"/>
              </a:rPr>
              <a:t>Saurabh Singh   Seerat Sharma   Driksha Thakur   Mahi Awasthi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49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A48E"/>
                </a:solidFill>
                <a:latin typeface="Calibri Light"/>
              </a:rPr>
              <a:t>Supervised by Dr. Swati Goel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133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A48E"/>
                </a:solidFill>
                <a:latin typeface="Calibri Light"/>
              </a:rPr>
              <a:t>Department of CSE, Chitkara University, Punjab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B8A48E"/>
                </a:solidFill>
                <a:latin typeface="Calibri"/>
              </a:rPr>
              <a:t>EXPLORATORY PROJECT   |   EP PRESENTATION</a:t>
            </a:r>
          </a:p>
        </p:txBody>
      </p:sp>
      <p:pic>
        <p:nvPicPr>
          <p:cNvPr id="15" name="Picture 14" descr="real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320040"/>
            <a:ext cx="416052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1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00232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A48E"/>
                </a:solidFill>
                <a:latin typeface="Calibri"/>
              </a:rPr>
              <a:t>2  /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2801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8A36"/>
                </a:solidFill>
                <a:latin typeface="Calibri"/>
              </a:rPr>
              <a:t>BEANS &amp; BITES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621792"/>
            <a:ext cx="1828800" cy="274320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" y="658368"/>
            <a:ext cx="17007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OUR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49808"/>
            <a:ext cx="914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B95D24"/>
                </a:solidFill>
                <a:latin typeface="Georgia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It started with a bad cup of coffee.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F7F2EB"/>
                </a:solidFill>
                <a:latin typeface="Calibri Light"/>
              </a:rPr>
              <a:t>We had just bought a bag of specialty beans — the kind that cost Rs. 800 and promised blueberry and jasmine notes. We brewed it. It tasted like regret.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F7F2EB"/>
                </a:solidFill>
                <a:latin typeface="Calibri Light"/>
              </a:rPr>
              <a:t>The problem? Ratio, grind size, bloom time, water temperature — nobody tells you these things. You spend months on YouTube, or you drink bad coffee forever.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F7F2EB"/>
                </a:solidFill>
                <a:latin typeface="Calibri Light"/>
              </a:rPr>
              <a:t>And yes — when we said we were building a specialty coffee app for India, people laughed. 'India is a chai country,' they said.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F7F2EB"/>
                </a:solidFill>
                <a:latin typeface="Calibri Light"/>
              </a:rPr>
              <a:t>But India's specialty coffee market is growing at 14% year-on-year. Third-wave cafes are opening in every metro city. Gen Z is already brewing at home. The craze is here. It just does not have a tool yet. That is Beans &amp; Bites.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1005840"/>
            <a:ext cx="3977639" cy="5486400"/>
          </a:xfrm>
          <a:prstGeom prst="rect">
            <a:avLst/>
          </a:prstGeom>
          <a:solidFill>
            <a:srgbClr val="24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909560" y="1005840"/>
            <a:ext cx="50292" cy="5486400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435608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D98A36"/>
                </a:solidFill>
                <a:latin typeface="Calibri"/>
              </a:rPr>
              <a:t>14%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167128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A48E"/>
                </a:solidFill>
                <a:latin typeface="Calibri Light"/>
              </a:rPr>
              <a:t>YoY Growth
Specialty Coffee India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017520"/>
            <a:ext cx="3291840" cy="16459"/>
          </a:xfrm>
          <a:prstGeom prst="rect">
            <a:avLst/>
          </a:prstGeom>
          <a:solidFill>
            <a:srgbClr val="604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3127248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D98A36"/>
                </a:solidFill>
                <a:latin typeface="Calibri"/>
              </a:rPr>
              <a:t>50 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858768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A48E"/>
                </a:solidFill>
                <a:latin typeface="Calibri Light"/>
              </a:rPr>
              <a:t>Home Coffee Brewers
in Urban India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4709160"/>
            <a:ext cx="3291840" cy="16459"/>
          </a:xfrm>
          <a:prstGeom prst="rect">
            <a:avLst/>
          </a:prstGeom>
          <a:solidFill>
            <a:srgbClr val="604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4818888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D98A36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550408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A48E"/>
                </a:solidFill>
                <a:latin typeface="Calibri Light"/>
              </a:rPr>
              <a:t>Dedicated Indian
Specialty Brewing Apps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1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00232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A48E"/>
                </a:solidFill>
                <a:latin typeface="Calibri"/>
              </a:rPr>
              <a:t>3  /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2801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8A36"/>
                </a:solidFill>
                <a:latin typeface="Calibri"/>
              </a:rPr>
              <a:t>BEANS &amp; BITES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621792"/>
            <a:ext cx="1828800" cy="274320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" y="658368"/>
            <a:ext cx="17007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0058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Home brewers are flying blind.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828800"/>
            <a:ext cx="5577840" cy="1965960"/>
          </a:xfrm>
          <a:prstGeom prst="rect">
            <a:avLst/>
          </a:prstGeom>
          <a:solidFill>
            <a:srgbClr val="24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" y="1828800"/>
            <a:ext cx="50292" cy="1965960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993392"/>
            <a:ext cx="109728" cy="109728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" y="19659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 STEP-BY-STEP GUIDANCE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37744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A48E"/>
                </a:solidFill>
                <a:latin typeface="Calibri Light"/>
              </a:rPr>
              <a:t>No app walks you through brewing. Ratios, timers, pour weights — scattered across dozens of blogs and YouTube videos.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28800"/>
            <a:ext cx="5577840" cy="1965960"/>
          </a:xfrm>
          <a:prstGeom prst="rect">
            <a:avLst/>
          </a:prstGeom>
          <a:solidFill>
            <a:srgbClr val="24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0292" cy="1965960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1993392"/>
            <a:ext cx="109728" cy="109728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64224" y="19659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 TASTE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37744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A48E"/>
                </a:solidFill>
                <a:latin typeface="Calibri Light"/>
              </a:rPr>
              <a:t>You brewed something excellent last week. You have no way to replicate it — ratio, grind, timing, water temp — all forgotten.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3977639"/>
            <a:ext cx="5577840" cy="1965960"/>
          </a:xfrm>
          <a:prstGeom prst="rect">
            <a:avLst/>
          </a:prstGeom>
          <a:solidFill>
            <a:srgbClr val="24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47472" y="3977639"/>
            <a:ext cx="50292" cy="1965960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142231"/>
            <a:ext cx="109728" cy="109728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" y="4114799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FOOD PAIRING IS GUESSWORK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4526279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A48E"/>
                </a:solidFill>
                <a:latin typeface="Calibri Light"/>
              </a:rPr>
              <a:t>Nobody tells you which food complements your bean. The pairing knowledge exists — but it is locked away in barista training manuals.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3977639"/>
            <a:ext cx="5577840" cy="1965960"/>
          </a:xfrm>
          <a:prstGeom prst="rect">
            <a:avLst/>
          </a:prstGeom>
          <a:solidFill>
            <a:srgbClr val="24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9632" y="3977639"/>
            <a:ext cx="50292" cy="1965960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4142231"/>
            <a:ext cx="109728" cy="109728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64224" y="4114799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 COMMUNITY FOR INDIAN BREWERS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4526279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A48E"/>
                </a:solidFill>
                <a:latin typeface="Calibri Light"/>
              </a:rPr>
              <a:t>Indian specialty coffee lovers have no shared space to post rituals, exchange recipes, or discover new beans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1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00232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A48E"/>
                </a:solidFill>
                <a:latin typeface="Calibri"/>
              </a:rPr>
              <a:t>4  /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2801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8A36"/>
                </a:solidFill>
                <a:latin typeface="Calibri"/>
              </a:rPr>
              <a:t>BEANS &amp; BITES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621792"/>
            <a:ext cx="1828800" cy="274320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" y="658368"/>
            <a:ext cx="17007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005840"/>
            <a:ext cx="6675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One app. Every ritual.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664208"/>
            <a:ext cx="6492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A48E"/>
                </a:solidFill>
                <a:latin typeface="Calibri Light"/>
              </a:rPr>
              <a:t>Beans &amp; Bites is a premium iOS app that guides specialty coffee lovers through every step — from choosing a recipe, through the brew, to logging the taste and sharing with a community. All offline. All on-device.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898648"/>
            <a:ext cx="109728" cy="109728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GUIDED BREW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1868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Timers and step cards for 8 methods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85032" y="2898648"/>
            <a:ext cx="109728" cy="109728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86200" y="283464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RECIPE CREATION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21868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Build and save your own custom recipes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4133088"/>
            <a:ext cx="109728" cy="109728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SMART FOOD PAIRING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5312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Curated pairings matched to bean and roast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85032" y="4133088"/>
            <a:ext cx="109728" cy="109728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86200" y="40690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TASTE 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445312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Radar chart built from your brew 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5367528"/>
            <a:ext cx="109728" cy="109728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3035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BREW COMMUNITY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8756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Channels and feed to share rituals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85032" y="5367528"/>
            <a:ext cx="109728" cy="109728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86200" y="53035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FULLY OFFLINE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568756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No server, no login wall — works anywhere</a:t>
            </a:r>
          </a:p>
        </p:txBody>
      </p:sp>
      <p:pic>
        <p:nvPicPr>
          <p:cNvPr id="28" name="Picture 27" descr="real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74320"/>
            <a:ext cx="484632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00232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A48E"/>
                </a:solidFill>
                <a:latin typeface="Calibri"/>
              </a:rPr>
              <a:t>5  /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2801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8A36"/>
                </a:solidFill>
                <a:latin typeface="Calibri"/>
              </a:rPr>
              <a:t>BEANS &amp; BITES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217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See It in Action</a:t>
            </a:r>
          </a:p>
        </p:txBody>
      </p:sp>
      <p:pic>
        <p:nvPicPr>
          <p:cNvPr id="7" name="Picture 6" descr="real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" y="1325880"/>
            <a:ext cx="2697480" cy="5074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06908" y="6492240"/>
            <a:ext cx="502920" cy="27432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468" y="656539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8A48E"/>
                </a:solidFill>
                <a:latin typeface="Calibri"/>
              </a:rPr>
              <a:t>HOME</a:t>
            </a:r>
          </a:p>
        </p:txBody>
      </p:sp>
      <p:pic>
        <p:nvPicPr>
          <p:cNvPr id="10" name="Picture 9" descr="real_brew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980" y="1325880"/>
            <a:ext cx="2697480" cy="50749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360420" y="6492240"/>
            <a:ext cx="502920" cy="27432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68980" y="656539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8A48E"/>
                </a:solidFill>
                <a:latin typeface="Calibri"/>
              </a:rPr>
              <a:t>BREW</a:t>
            </a:r>
          </a:p>
        </p:txBody>
      </p:sp>
      <p:pic>
        <p:nvPicPr>
          <p:cNvPr id="13" name="Picture 12" descr="real_brew_tim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492" y="1325880"/>
            <a:ext cx="2697480" cy="50749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313932" y="6492240"/>
            <a:ext cx="502920" cy="27432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22492" y="656539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8A48E"/>
                </a:solidFill>
                <a:latin typeface="Calibri"/>
              </a:rPr>
              <a:t>TIMER</a:t>
            </a:r>
          </a:p>
        </p:txBody>
      </p:sp>
      <p:pic>
        <p:nvPicPr>
          <p:cNvPr id="16" name="Picture 15" descr="real_commun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6004" y="1325880"/>
            <a:ext cx="2697480" cy="507492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267444" y="6492240"/>
            <a:ext cx="502920" cy="27432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6004" y="656539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8A48E"/>
                </a:solidFill>
                <a:latin typeface="Calibri"/>
              </a:rPr>
              <a:t>COMMUNITY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1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00232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A48E"/>
                </a:solidFill>
                <a:latin typeface="Calibri"/>
              </a:rPr>
              <a:t>6  /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2801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8A36"/>
                </a:solidFill>
                <a:latin typeface="Calibri"/>
              </a:rPr>
              <a:t>BEANS &amp; BITES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621792"/>
            <a:ext cx="1828800" cy="274320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" y="658368"/>
            <a:ext cx="17007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0058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Built for the serious home brewer.</a:t>
            </a:r>
          </a:p>
        </p:txBody>
      </p:sp>
      <p:pic>
        <p:nvPicPr>
          <p:cNvPr id="9" name="Picture 8" descr="real_brew_ti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00200"/>
            <a:ext cx="3246120" cy="50749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611880" y="1664208"/>
            <a:ext cx="50292" cy="1005840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2191" y="173736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GUIDED BREW WITH PRECISION TIMER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1" y="2084832"/>
            <a:ext cx="8046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A48E"/>
                </a:solidFill>
                <a:latin typeface="Calibri Light"/>
              </a:rPr>
              <a:t>Each recipe runs through named phases — Decoction, Bloom, Pour — with a live countdown timer, step-by-step instructions, and haptic feedback on each transition.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2907792"/>
            <a:ext cx="50292" cy="1005840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22191" y="2980944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RECIPE CREATION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3328416"/>
            <a:ext cx="8046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A48E"/>
                </a:solidFill>
                <a:latin typeface="Calibri Light"/>
              </a:rPr>
              <a:t>Users can build custom recipes from scratch: choose coffee base, roast level, grind type, add a photo and tasting notes. Saved locally via SwiftData.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4151376"/>
            <a:ext cx="50292" cy="1005840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22191" y="4224528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SMART FOOD PAIRING CATALOG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1" y="4572000"/>
            <a:ext cx="8046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A48E"/>
                </a:solidFill>
                <a:latin typeface="Calibri Light"/>
              </a:rPr>
              <a:t>A JSON-powered engine cross-references bean origin and roast against a curated library of pairings — surfaced directly on the brew detail card.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5394960"/>
            <a:ext cx="50292" cy="1005840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22191" y="5468112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SCA FLAVOR WHEEL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1" y="5815584"/>
            <a:ext cx="8046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A48E"/>
                </a:solidFill>
                <a:latin typeface="Calibri Light"/>
              </a:rPr>
              <a:t>After every session, an interactive Specialty Coffee Association flavor wheel lets users log precise tasting notes that build their taste profile over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1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00232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A48E"/>
                </a:solidFill>
                <a:latin typeface="Calibri"/>
              </a:rPr>
              <a:t>7  /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2801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8A36"/>
                </a:solidFill>
                <a:latin typeface="Calibri"/>
              </a:rPr>
              <a:t>BEANS &amp; BITES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621792"/>
            <a:ext cx="1828800" cy="274320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" y="658368"/>
            <a:ext cx="17007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0058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100% Native. Zero Servers.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783080"/>
            <a:ext cx="3703320" cy="1280160"/>
          </a:xfrm>
          <a:prstGeom prst="rect">
            <a:avLst/>
          </a:prstGeom>
          <a:solidFill>
            <a:srgbClr val="24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" y="1783080"/>
            <a:ext cx="3703320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" y="191109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Swift 5 + SwiftUI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23500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Native iOS user interface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783080"/>
            <a:ext cx="3703320" cy="1280160"/>
          </a:xfrm>
          <a:prstGeom prst="rect">
            <a:avLst/>
          </a:prstGeom>
          <a:solidFill>
            <a:srgbClr val="24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9392" y="1783080"/>
            <a:ext cx="3703320" cy="50292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25696" y="191109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MVVM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3500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Separation of concerns across all modules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11312" y="1783080"/>
            <a:ext cx="3703320" cy="1280160"/>
          </a:xfrm>
          <a:prstGeom prst="rect">
            <a:avLst/>
          </a:prstGeom>
          <a:solidFill>
            <a:srgbClr val="24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11312" y="1783080"/>
            <a:ext cx="3703320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57616" y="191109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SwiftData / SQLite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3500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Local persistence of brew sessions and recipes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3246120"/>
            <a:ext cx="3703320" cy="1280160"/>
          </a:xfrm>
          <a:prstGeom prst="rect">
            <a:avLst/>
          </a:prstGeom>
          <a:solidFill>
            <a:srgbClr val="24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47472" y="3246120"/>
            <a:ext cx="3703320" cy="50292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6" y="33741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Swift Charts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" y="381304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Brew analytics and taste radar visualisation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3246120"/>
            <a:ext cx="3703320" cy="1280160"/>
          </a:xfrm>
          <a:prstGeom prst="rect">
            <a:avLst/>
          </a:prstGeom>
          <a:solidFill>
            <a:srgbClr val="24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79392" y="3246120"/>
            <a:ext cx="3703320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25696" y="33741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Canvas +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5696" y="381304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Custom SCA radar chart and flavor wheel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11312" y="3246120"/>
            <a:ext cx="3703320" cy="1280160"/>
          </a:xfrm>
          <a:prstGeom prst="rect">
            <a:avLst/>
          </a:prstGeom>
          <a:solidFill>
            <a:srgbClr val="24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11312" y="3246120"/>
            <a:ext cx="3703320" cy="50292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57616" y="33741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Combine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6" y="381304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Reactive state management throughout app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4709160"/>
            <a:ext cx="3703320" cy="1280160"/>
          </a:xfrm>
          <a:prstGeom prst="rect">
            <a:avLst/>
          </a:prstGeom>
          <a:solidFill>
            <a:srgbClr val="24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47472" y="4709160"/>
            <a:ext cx="3703320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3776" y="48371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UIKit Haptics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" y="527608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Tactile feedback during brewing steps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9392" y="4709160"/>
            <a:ext cx="3703320" cy="1280160"/>
          </a:xfrm>
          <a:prstGeom prst="rect">
            <a:avLst/>
          </a:prstGeom>
          <a:solidFill>
            <a:srgbClr val="24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279392" y="4709160"/>
            <a:ext cx="3703320" cy="50292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25696" y="48371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Codable + 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25696" y="527608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Offline pairing catalog and recipe 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11312" y="4709160"/>
            <a:ext cx="3703320" cy="1280160"/>
          </a:xfrm>
          <a:prstGeom prst="rect">
            <a:avLst/>
          </a:prstGeom>
          <a:solidFill>
            <a:srgbClr val="24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211312" y="4709160"/>
            <a:ext cx="3703320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57616" y="48371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7616" y="527608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Version control across 6-week sprint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1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00232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A48E"/>
                </a:solidFill>
                <a:latin typeface="Calibri"/>
              </a:rPr>
              <a:t>8  /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2801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8A36"/>
                </a:solidFill>
                <a:latin typeface="Calibri"/>
              </a:rPr>
              <a:t>BEANS &amp; BITES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621792"/>
            <a:ext cx="1828800" cy="274320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" y="658368"/>
            <a:ext cx="17007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0058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Layered, Offline-First MVVM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691640"/>
            <a:ext cx="11430000" cy="877824"/>
          </a:xfrm>
          <a:prstGeom prst="rect">
            <a:avLst/>
          </a:prstGeom>
          <a:solidFill>
            <a:srgbClr val="2E2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" y="1691640"/>
            <a:ext cx="82296" cy="877824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SwiftUI 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6712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Home  |  Brew  |  Community  |  Profile  |  Onboarding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569464"/>
            <a:ext cx="16459" cy="54864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" y="2624328"/>
            <a:ext cx="11430000" cy="877824"/>
          </a:xfrm>
          <a:prstGeom prst="rect">
            <a:avLst/>
          </a:prstGeom>
          <a:solidFill>
            <a:srgbClr val="2E2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" y="2624328"/>
            <a:ext cx="82296" cy="877824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71576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ViewModels  (Combine)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09981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AppDataStore  |  BrewVM  |  CommunityVM  |  ProfileVM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502152"/>
            <a:ext cx="16459" cy="54864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7472" y="3557016"/>
            <a:ext cx="11430000" cy="877824"/>
          </a:xfrm>
          <a:prstGeom prst="rect">
            <a:avLst/>
          </a:prstGeom>
          <a:solidFill>
            <a:srgbClr val="2E2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47472" y="3557016"/>
            <a:ext cx="82296" cy="877824"/>
          </a:xfrm>
          <a:prstGeom prst="rect">
            <a:avLst/>
          </a:prstGeom>
          <a:solidFill>
            <a:srgbClr val="3C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64845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Model Managers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032504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Auth  |  Coffee  |  Brew  |  Community  |  Profile Managers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4434840"/>
            <a:ext cx="16459" cy="54864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7472" y="4489704"/>
            <a:ext cx="11430000" cy="877824"/>
          </a:xfrm>
          <a:prstGeom prst="rect">
            <a:avLst/>
          </a:prstGeom>
          <a:solidFill>
            <a:srgbClr val="2E2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7472" y="4489704"/>
            <a:ext cx="82296" cy="877824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58114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Persistence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965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SwiftData (SQLite)  |  JSON Files  |  Device Documents Directory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5367528"/>
            <a:ext cx="16459" cy="54864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7472" y="5422392"/>
            <a:ext cx="11430000" cy="877824"/>
          </a:xfrm>
          <a:prstGeom prst="rect">
            <a:avLst/>
          </a:prstGeom>
          <a:solidFill>
            <a:srgbClr val="2E2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7472" y="5422392"/>
            <a:ext cx="82296" cy="87782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551383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Supporting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89788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Swift Charts  |  UIKit Haptics  |  CoffeeTheme Design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1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00232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A48E"/>
                </a:solidFill>
                <a:latin typeface="Calibri"/>
              </a:rPr>
              <a:t>9  /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2801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8A36"/>
                </a:solidFill>
                <a:latin typeface="Calibri"/>
              </a:rPr>
              <a:t>BEANS &amp; BITES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621792"/>
            <a:ext cx="1828800" cy="274320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" y="658368"/>
            <a:ext cx="17007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0058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Iterative development — module by module.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627632"/>
            <a:ext cx="658368" cy="658368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75564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8110B"/>
                </a:solidFill>
                <a:latin typeface="Calibri"/>
              </a:rPr>
              <a:t>W1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66420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Requirement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199339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User flows, data models, feature scoping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2423160"/>
            <a:ext cx="658368" cy="658368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2551176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8110B"/>
                </a:solidFill>
                <a:latin typeface="Calibri"/>
              </a:rPr>
              <a:t>W2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45973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UI / UX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7889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CoffeeTheme system, component library, dark and light mode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3218688"/>
            <a:ext cx="658368" cy="658368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34670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8110B"/>
                </a:solidFill>
                <a:latin typeface="Calibri"/>
              </a:rPr>
              <a:t>W3-4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25526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Auth, Home &amp; Brew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5844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Login/Signup, HomeScreen, 8 brew methods with timers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4014215"/>
            <a:ext cx="658368" cy="658368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4142231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8110B"/>
                </a:solidFill>
                <a:latin typeface="Calibri"/>
              </a:rPr>
              <a:t>W5-6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050791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Pairing, Recipe &amp; Discover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4379975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Pairing engine, recipe creation flow, discover screen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4809744"/>
            <a:ext cx="658368" cy="658368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493776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8110B"/>
                </a:solidFill>
                <a:latin typeface="Calibri"/>
              </a:rPr>
              <a:t>W7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484632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Community &amp; Profile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51755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Channels, ritual feed, taste radar, achievements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5605272"/>
            <a:ext cx="658368" cy="658368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" y="573328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8110B"/>
                </a:solidFill>
                <a:latin typeface="Calibri"/>
              </a:rPr>
              <a:t>W8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564184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Testing &amp; Documentation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59710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A48E"/>
                </a:solidFill>
                <a:latin typeface="Calibri Light"/>
              </a:rPr>
              <a:t>Xcode simulator testing, edge case coverage, SCA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00232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A48E"/>
                </a:solidFill>
                <a:latin typeface="Calibri"/>
              </a:rPr>
              <a:t>10  /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2801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8A36"/>
                </a:solidFill>
                <a:latin typeface="Calibri"/>
              </a:rPr>
              <a:t>BEANS &amp; BITES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621792"/>
            <a:ext cx="1828800" cy="274320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" y="658368"/>
            <a:ext cx="17007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COMMUNITY &amp; RECIPE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9601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Your rituals, shared.</a:t>
            </a:r>
          </a:p>
        </p:txBody>
      </p:sp>
      <p:pic>
        <p:nvPicPr>
          <p:cNvPr id="9" name="Picture 8" descr="real_comm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2768"/>
            <a:ext cx="4114800" cy="5074920"/>
          </a:xfrm>
          <a:prstGeom prst="rect">
            <a:avLst/>
          </a:prstGeom>
        </p:spPr>
      </p:pic>
      <p:pic>
        <p:nvPicPr>
          <p:cNvPr id="10" name="Picture 9" descr="real_new_rec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572768"/>
            <a:ext cx="4114800" cy="50749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418320" y="1938528"/>
            <a:ext cx="100584" cy="100584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46920" y="1828800"/>
            <a:ext cx="2377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F2EB"/>
                </a:solidFill>
                <a:latin typeface="Calibri Light"/>
              </a:rPr>
              <a:t>Official channels — Daily Chat, Origin, SCA Cupping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2834640"/>
            <a:ext cx="100584" cy="100584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46920" y="2724912"/>
            <a:ext cx="2377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F2EB"/>
                </a:solidFill>
                <a:latin typeface="Calibri Light"/>
              </a:rPr>
              <a:t>Community channels — Pairings, Late Night Pours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3730752"/>
            <a:ext cx="100584" cy="100584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46920" y="3621024"/>
            <a:ext cx="2377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F2EB"/>
                </a:solidFill>
                <a:latin typeface="Calibri Light"/>
              </a:rPr>
              <a:t>Create and share custom recipes with photos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4626864"/>
            <a:ext cx="100584" cy="100584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46920" y="4517136"/>
            <a:ext cx="2377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F2EB"/>
                </a:solidFill>
                <a:latin typeface="Calibri Light"/>
              </a:rPr>
              <a:t>Choose roast level, grind type and 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5522976"/>
            <a:ext cx="100584" cy="100584"/>
          </a:xfrm>
          <a:prstGeom prst="rect">
            <a:avLst/>
          </a:prstGeom>
          <a:solidFill>
            <a:srgbClr val="D9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46920" y="5413248"/>
            <a:ext cx="2377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F2EB"/>
                </a:solidFill>
                <a:latin typeface="Calibri Light"/>
              </a:rPr>
              <a:t>Save drafts and publish to the community feed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1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95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03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BEANS &amp; BITES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834640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D98A36"/>
                </a:solidFill>
                <a:latin typeface="Calibri Light"/>
              </a:rPr>
              <a:t>Your Personal Coffee Ritual, Perfected.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3493008"/>
            <a:ext cx="4572000" cy="16459"/>
          </a:xfrm>
          <a:prstGeom prst="rect">
            <a:avLst/>
          </a:prstGeom>
          <a:solidFill>
            <a:srgbClr val="604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A48E"/>
                </a:solidFill>
                <a:latin typeface="Calibri Light"/>
              </a:rPr>
              <a:t>Offline-First   |   MVVM   |   SwiftData   |   SCA Flavor Wheel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25196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B95D24"/>
                </a:solidFill>
                <a:latin typeface="Calibri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74920"/>
            <a:ext cx="9418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A48E"/>
                </a:solidFill>
                <a:latin typeface="Calibri Light"/>
              </a:rPr>
              <a:t>Saurabh Singh   |   Seerat Sharma   |   Driksha Thakur   |   Mahi Awasthi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6811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8A48E"/>
                </a:solidFill>
                <a:latin typeface="Calibri Light"/>
              </a:rPr>
              <a:t>Supervised by Dr. Swati Goel   |   Chitkara University, Punjab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968</Words>
  <Application>Microsoft Macintosh PowerPoint</Application>
  <PresentationFormat>Custom</PresentationFormat>
  <Paragraphs>143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Gurpreet Singh Gurpreet Singh</cp:lastModifiedBy>
  <cp:revision>2</cp:revision>
  <dcterms:created xsi:type="dcterms:W3CDTF">2013-01-27T09:14:16Z</dcterms:created>
  <dcterms:modified xsi:type="dcterms:W3CDTF">2026-10-28T05:08:33Z</dcterms:modified>
  <cp:category/>
</cp:coreProperties>
</file>